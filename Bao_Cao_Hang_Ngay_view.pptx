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87" r:id="rId7"/>
    <p:sldId id="308" r:id="rId8"/>
    <p:sldId id="309" r:id="rId9"/>
    <p:sldId id="278" r:id="rId10"/>
    <p:sldId id="310" r:id="rId11"/>
    <p:sldId id="311" r:id="rId12"/>
    <p:sldId id="312" r:id="rId13"/>
    <p:sldId id="313" r:id="rId14"/>
    <p:sldId id="314" r:id="rId15"/>
    <p:sldId id="315" r:id="rId16"/>
    <p:sldId id="316" r:id="rId17"/>
    <p:sldId id="317" r:id="rId18"/>
    <p:sldId id="318" r:id="rId19"/>
    <p:sldId id="274" r:id="rId20"/>
    <p:sldId id="321" r:id="rId21"/>
  </p:sldIdLst>
  <p:sldSz cx="12192000" cy="6858000"/>
  <p:notesSz cx="9144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91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79484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897446-8BEC-4341-A683-89EF25AA7459}" type="datetimeFigureOut">
              <a:rPr lang="en-US" smtClean="0"/>
              <a:t>04/06/2026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2CE58F-A990-4421-9AEE-4FAB7048C4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6936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50728" rtl="0" eaLnBrk="1" latinLnBrk="0" hangingPunct="1">
      <a:defRPr sz="1248" kern="1200">
        <a:solidFill>
          <a:schemeClr val="tx1"/>
        </a:solidFill>
        <a:latin typeface="+mn-lt"/>
        <a:ea typeface="+mn-ea"/>
        <a:cs typeface="+mn-cs"/>
      </a:defRPr>
    </a:lvl1pPr>
    <a:lvl2pPr marL="475363" algn="l" defTabSz="950728" rtl="0" eaLnBrk="1" latinLnBrk="0" hangingPunct="1">
      <a:defRPr sz="1248" kern="1200">
        <a:solidFill>
          <a:schemeClr val="tx1"/>
        </a:solidFill>
        <a:latin typeface="+mn-lt"/>
        <a:ea typeface="+mn-ea"/>
        <a:cs typeface="+mn-cs"/>
      </a:defRPr>
    </a:lvl2pPr>
    <a:lvl3pPr marL="950728" algn="l" defTabSz="950728" rtl="0" eaLnBrk="1" latinLnBrk="0" hangingPunct="1">
      <a:defRPr sz="1248" kern="1200">
        <a:solidFill>
          <a:schemeClr val="tx1"/>
        </a:solidFill>
        <a:latin typeface="+mn-lt"/>
        <a:ea typeface="+mn-ea"/>
        <a:cs typeface="+mn-cs"/>
      </a:defRPr>
    </a:lvl3pPr>
    <a:lvl4pPr marL="1426092" algn="l" defTabSz="950728" rtl="0" eaLnBrk="1" latinLnBrk="0" hangingPunct="1">
      <a:defRPr sz="1248" kern="1200">
        <a:solidFill>
          <a:schemeClr val="tx1"/>
        </a:solidFill>
        <a:latin typeface="+mn-lt"/>
        <a:ea typeface="+mn-ea"/>
        <a:cs typeface="+mn-cs"/>
      </a:defRPr>
    </a:lvl4pPr>
    <a:lvl5pPr marL="1901455" algn="l" defTabSz="950728" rtl="0" eaLnBrk="1" latinLnBrk="0" hangingPunct="1">
      <a:defRPr sz="1248" kern="1200">
        <a:solidFill>
          <a:schemeClr val="tx1"/>
        </a:solidFill>
        <a:latin typeface="+mn-lt"/>
        <a:ea typeface="+mn-ea"/>
        <a:cs typeface="+mn-cs"/>
      </a:defRPr>
    </a:lvl5pPr>
    <a:lvl6pPr marL="2376819" algn="l" defTabSz="950728" rtl="0" eaLnBrk="1" latinLnBrk="0" hangingPunct="1">
      <a:defRPr sz="1248" kern="1200">
        <a:solidFill>
          <a:schemeClr val="tx1"/>
        </a:solidFill>
        <a:latin typeface="+mn-lt"/>
        <a:ea typeface="+mn-ea"/>
        <a:cs typeface="+mn-cs"/>
      </a:defRPr>
    </a:lvl6pPr>
    <a:lvl7pPr marL="2852182" algn="l" defTabSz="950728" rtl="0" eaLnBrk="1" latinLnBrk="0" hangingPunct="1">
      <a:defRPr sz="1248" kern="1200">
        <a:solidFill>
          <a:schemeClr val="tx1"/>
        </a:solidFill>
        <a:latin typeface="+mn-lt"/>
        <a:ea typeface="+mn-ea"/>
        <a:cs typeface="+mn-cs"/>
      </a:defRPr>
    </a:lvl7pPr>
    <a:lvl8pPr marL="3327546" algn="l" defTabSz="950728" rtl="0" eaLnBrk="1" latinLnBrk="0" hangingPunct="1">
      <a:defRPr sz="1248" kern="1200">
        <a:solidFill>
          <a:schemeClr val="tx1"/>
        </a:solidFill>
        <a:latin typeface="+mn-lt"/>
        <a:ea typeface="+mn-ea"/>
        <a:cs typeface="+mn-cs"/>
      </a:defRPr>
    </a:lvl8pPr>
    <a:lvl9pPr marL="3802909" algn="l" defTabSz="950728" rtl="0" eaLnBrk="1" latinLnBrk="0" hangingPunct="1">
      <a:defRPr sz="1248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1" y="1122363"/>
            <a:ext cx="9144000" cy="2387600"/>
          </a:xfrm>
        </p:spPr>
        <p:txBody>
          <a:bodyPr anchor="b"/>
          <a:lstStyle>
            <a:lvl1pPr algn="ctr">
              <a:defRPr sz="599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1" y="3602038"/>
            <a:ext cx="9144000" cy="1655762"/>
          </a:xfrm>
        </p:spPr>
        <p:txBody>
          <a:bodyPr/>
          <a:lstStyle>
            <a:lvl1pPr marL="0" indent="0" algn="ctr">
              <a:buNone/>
              <a:defRPr sz="2399"/>
            </a:lvl1pPr>
            <a:lvl2pPr marL="457063" indent="0" algn="ctr">
              <a:buNone/>
              <a:defRPr sz="1999"/>
            </a:lvl2pPr>
            <a:lvl3pPr marL="914126" indent="0" algn="ctr">
              <a:buNone/>
              <a:defRPr sz="1799"/>
            </a:lvl3pPr>
            <a:lvl4pPr marL="1371189" indent="0" algn="ctr">
              <a:buNone/>
              <a:defRPr sz="1600"/>
            </a:lvl4pPr>
            <a:lvl5pPr marL="1828251" indent="0" algn="ctr">
              <a:buNone/>
              <a:defRPr sz="1600"/>
            </a:lvl5pPr>
            <a:lvl6pPr marL="2285314" indent="0" algn="ctr">
              <a:buNone/>
              <a:defRPr sz="1600"/>
            </a:lvl6pPr>
            <a:lvl7pPr marL="2742377" indent="0" algn="ctr">
              <a:buNone/>
              <a:defRPr sz="1600"/>
            </a:lvl7pPr>
            <a:lvl8pPr marL="3199440" indent="0" algn="ctr">
              <a:buNone/>
              <a:defRPr sz="1600"/>
            </a:lvl8pPr>
            <a:lvl9pPr marL="3656503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52292-E485-4F77-8495-E7E195AEF7AC}" type="datetimeFigureOut">
              <a:rPr lang="en-US" smtClean="0"/>
              <a:t>04/06/2026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C460A-A10D-4651-BD7F-D5CE56010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0190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52292-E485-4F77-8495-E7E195AEF7AC}" type="datetimeFigureOut">
              <a:rPr lang="en-US" smtClean="0"/>
              <a:t>04/06/2026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C460A-A10D-4651-BD7F-D5CE56010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7034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40"/>
            <a:ext cx="10515600" cy="2852737"/>
          </a:xfrm>
        </p:spPr>
        <p:txBody>
          <a:bodyPr anchor="b"/>
          <a:lstStyle>
            <a:lvl1pPr>
              <a:defRPr sz="599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5"/>
            <a:ext cx="10515600" cy="1500187"/>
          </a:xfrm>
        </p:spPr>
        <p:txBody>
          <a:bodyPr/>
          <a:lstStyle>
            <a:lvl1pPr marL="0" indent="0">
              <a:buNone/>
              <a:defRPr sz="2399">
                <a:solidFill>
                  <a:schemeClr val="tx1">
                    <a:tint val="82000"/>
                  </a:schemeClr>
                </a:solidFill>
              </a:defRPr>
            </a:lvl1pPr>
            <a:lvl2pPr marL="457063" indent="0">
              <a:buNone/>
              <a:defRPr sz="1999">
                <a:solidFill>
                  <a:schemeClr val="tx1">
                    <a:tint val="82000"/>
                  </a:schemeClr>
                </a:solidFill>
              </a:defRPr>
            </a:lvl2pPr>
            <a:lvl3pPr marL="914126" indent="0">
              <a:buNone/>
              <a:defRPr sz="1799">
                <a:solidFill>
                  <a:schemeClr val="tx1">
                    <a:tint val="82000"/>
                  </a:schemeClr>
                </a:solidFill>
              </a:defRPr>
            </a:lvl3pPr>
            <a:lvl4pPr marL="137118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251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5314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2377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19944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650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52292-E485-4F77-8495-E7E195AEF7AC}" type="datetimeFigureOut">
              <a:rPr lang="en-US" smtClean="0"/>
              <a:t>04/06/2026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C460A-A10D-4651-BD7F-D5CE56010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4200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1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52292-E485-4F77-8495-E7E195AEF7AC}" type="datetimeFigureOut">
              <a:rPr lang="en-US" smtClean="0"/>
              <a:t>04/06/2026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C460A-A10D-4651-BD7F-D5CE56010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77410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7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399" b="1"/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399" b="1"/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52292-E485-4F77-8495-E7E195AEF7AC}" type="datetimeFigureOut">
              <a:rPr lang="en-US" smtClean="0"/>
              <a:t>04/06/2026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C460A-A10D-4651-BD7F-D5CE56010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8928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52292-E485-4F77-8495-E7E195AEF7AC}" type="datetimeFigureOut">
              <a:rPr lang="en-US" smtClean="0"/>
              <a:t>04/06/2026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C460A-A10D-4651-BD7F-D5CE56010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66250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52292-E485-4F77-8495-E7E195AEF7AC}" type="datetimeFigureOut">
              <a:rPr lang="en-US" smtClean="0"/>
              <a:t>04/06/2026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C460A-A10D-4651-BD7F-D5CE56010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07370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1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>
              <a:defRPr sz="3199"/>
            </a:lvl1pPr>
            <a:lvl2pPr>
              <a:defRPr sz="2799"/>
            </a:lvl2pPr>
            <a:lvl3pPr>
              <a:defRPr sz="2399"/>
            </a:lvl3pPr>
            <a:lvl4pPr>
              <a:defRPr sz="1999"/>
            </a:lvl4pPr>
            <a:lvl5pPr>
              <a:defRPr sz="1999"/>
            </a:lvl5pPr>
            <a:lvl6pPr>
              <a:defRPr sz="1999"/>
            </a:lvl6pPr>
            <a:lvl7pPr>
              <a:defRPr sz="1999"/>
            </a:lvl7pPr>
            <a:lvl8pPr>
              <a:defRPr sz="1999"/>
            </a:lvl8pPr>
            <a:lvl9pPr>
              <a:defRPr sz="199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52292-E485-4F77-8495-E7E195AEF7AC}" type="datetimeFigureOut">
              <a:rPr lang="en-US" smtClean="0"/>
              <a:t>04/06/2026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C460A-A10D-4651-BD7F-D5CE56010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13756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1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7"/>
            <a:ext cx="6172200" cy="4873625"/>
          </a:xfrm>
        </p:spPr>
        <p:txBody>
          <a:bodyPr anchor="t"/>
          <a:lstStyle>
            <a:lvl1pPr marL="0" indent="0">
              <a:buNone/>
              <a:defRPr sz="3199"/>
            </a:lvl1pPr>
            <a:lvl2pPr marL="457063" indent="0">
              <a:buNone/>
              <a:defRPr sz="2799"/>
            </a:lvl2pPr>
            <a:lvl3pPr marL="914126" indent="0">
              <a:buNone/>
              <a:defRPr sz="2399"/>
            </a:lvl3pPr>
            <a:lvl4pPr marL="1371189" indent="0">
              <a:buNone/>
              <a:defRPr sz="1999"/>
            </a:lvl4pPr>
            <a:lvl5pPr marL="1828251" indent="0">
              <a:buNone/>
              <a:defRPr sz="1999"/>
            </a:lvl5pPr>
            <a:lvl6pPr marL="2285314" indent="0">
              <a:buNone/>
              <a:defRPr sz="1999"/>
            </a:lvl6pPr>
            <a:lvl7pPr marL="2742377" indent="0">
              <a:buNone/>
              <a:defRPr sz="1999"/>
            </a:lvl7pPr>
            <a:lvl8pPr marL="3199440" indent="0">
              <a:buNone/>
              <a:defRPr sz="1999"/>
            </a:lvl8pPr>
            <a:lvl9pPr marL="3656503" indent="0">
              <a:buNone/>
              <a:defRPr sz="1999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52292-E485-4F77-8495-E7E195AEF7AC}" type="datetimeFigureOut">
              <a:rPr lang="en-US" smtClean="0"/>
              <a:t>04/06/2026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C460A-A10D-4651-BD7F-D5CE56010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4606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52292-E485-4F77-8495-E7E195AEF7AC}" type="datetimeFigureOut">
              <a:rPr lang="en-US" smtClean="0"/>
              <a:t>04/06/2026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C460A-A10D-4651-BD7F-D5CE56010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0709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52292-E485-4F77-8495-E7E195AEF7AC}" type="datetimeFigureOut">
              <a:rPr lang="en-US" smtClean="0"/>
              <a:t>04/06/2026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C460A-A10D-4651-BD7F-D5CE56010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20611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A52292-E485-4F77-8495-E7E195AEF7AC}" type="datetimeFigureOut">
              <a:rPr lang="en-US" smtClean="0"/>
              <a:t>04/06/2026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4C460A-A10D-4651-BD7F-D5CE56010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26851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  <p:txStyles>
    <p:titleStyle>
      <a:lvl1pPr algn="l" defTabSz="914126" rtl="0" eaLnBrk="1" latinLnBrk="0" hangingPunct="1">
        <a:lnSpc>
          <a:spcPct val="90000"/>
        </a:lnSpc>
        <a:spcBef>
          <a:spcPct val="0"/>
        </a:spcBef>
        <a:buNone/>
        <a:defRPr sz="439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31" indent="-228531" algn="l" defTabSz="914126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799" kern="1200">
          <a:solidFill>
            <a:schemeClr val="tx1"/>
          </a:solidFill>
          <a:latin typeface="+mn-lt"/>
          <a:ea typeface="+mn-ea"/>
          <a:cs typeface="+mn-cs"/>
        </a:defRPr>
      </a:lvl1pPr>
      <a:lvl2pPr marL="685594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399" kern="1200">
          <a:solidFill>
            <a:schemeClr val="tx1"/>
          </a:solidFill>
          <a:latin typeface="+mn-lt"/>
          <a:ea typeface="+mn-ea"/>
          <a:cs typeface="+mn-cs"/>
        </a:defRPr>
      </a:lvl2pPr>
      <a:lvl3pPr marL="1142657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3pPr>
      <a:lvl4pPr marL="1599720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2056783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513846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970908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427971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885034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63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26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89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51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314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77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440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503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73.png"/><Relationship Id="rId4" Type="http://schemas.openxmlformats.org/officeDocument/2006/relationships/image" Target="../media/image74.png"/><Relationship Id="rId5" Type="http://schemas.openxmlformats.org/officeDocument/2006/relationships/image" Target="../media/image75.png"/><Relationship Id="rId6" Type="http://schemas.openxmlformats.org/officeDocument/2006/relationships/image" Target="../media/image76.png"/><Relationship Id="rId7" Type="http://schemas.openxmlformats.org/officeDocument/2006/relationships/image" Target="../media/image78.png"/><Relationship Id="rId8" Type="http://schemas.openxmlformats.org/officeDocument/2006/relationships/image" Target="../media/image80.png"/><Relationship Id="rId9" Type="http://schemas.openxmlformats.org/officeDocument/2006/relationships/image" Target="../media/image8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8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8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8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8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8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8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8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9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9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77.png"/><Relationship Id="rId6" Type="http://schemas.openxmlformats.org/officeDocument/2006/relationships/image" Target="../media/image79.png"/><Relationship Id="rId7" Type="http://schemas.openxmlformats.org/officeDocument/2006/relationships/image" Target="../media/image8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9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9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Relationship Id="rId6" Type="http://schemas.openxmlformats.org/officeDocument/2006/relationships/image" Target="../media/image50.png"/><Relationship Id="rId7" Type="http://schemas.openxmlformats.org/officeDocument/2006/relationships/image" Target="../media/image51.png"/><Relationship Id="rId8" Type="http://schemas.openxmlformats.org/officeDocument/2006/relationships/image" Target="../media/image52.png"/><Relationship Id="rId9" Type="http://schemas.openxmlformats.org/officeDocument/2006/relationships/image" Target="../media/image53.png"/><Relationship Id="rId10" Type="http://schemas.openxmlformats.org/officeDocument/2006/relationships/image" Target="../media/image54.png"/><Relationship Id="rId11" Type="http://schemas.openxmlformats.org/officeDocument/2006/relationships/image" Target="../media/image55.png"/><Relationship Id="rId12" Type="http://schemas.openxmlformats.org/officeDocument/2006/relationships/image" Target="../media/image56.png"/><Relationship Id="rId13" Type="http://schemas.openxmlformats.org/officeDocument/2006/relationships/image" Target="../media/image57.png"/><Relationship Id="rId14" Type="http://schemas.openxmlformats.org/officeDocument/2006/relationships/image" Target="../media/image58.png"/><Relationship Id="rId15" Type="http://schemas.openxmlformats.org/officeDocument/2006/relationships/image" Target="../media/image59.png"/><Relationship Id="rId16" Type="http://schemas.openxmlformats.org/officeDocument/2006/relationships/image" Target="../media/image60.png"/><Relationship Id="rId17" Type="http://schemas.openxmlformats.org/officeDocument/2006/relationships/image" Target="../media/image61.png"/><Relationship Id="rId18" Type="http://schemas.openxmlformats.org/officeDocument/2006/relationships/image" Target="../media/image62.png"/><Relationship Id="rId19" Type="http://schemas.openxmlformats.org/officeDocument/2006/relationships/image" Target="../media/image63.png"/><Relationship Id="rId20" Type="http://schemas.openxmlformats.org/officeDocument/2006/relationships/image" Target="../media/image64.png"/><Relationship Id="rId21" Type="http://schemas.openxmlformats.org/officeDocument/2006/relationships/image" Target="../media/image65.png"/><Relationship Id="rId22" Type="http://schemas.openxmlformats.org/officeDocument/2006/relationships/image" Target="../media/image66.png"/><Relationship Id="rId23" Type="http://schemas.openxmlformats.org/officeDocument/2006/relationships/image" Target="../media/image67.png"/><Relationship Id="rId24" Type="http://schemas.openxmlformats.org/officeDocument/2006/relationships/image" Target="../media/image68.png"/><Relationship Id="rId25" Type="http://schemas.openxmlformats.org/officeDocument/2006/relationships/image" Target="../media/image69.png"/><Relationship Id="rId26" Type="http://schemas.openxmlformats.org/officeDocument/2006/relationships/image" Target="../media/image70.png"/><Relationship Id="rId27" Type="http://schemas.openxmlformats.org/officeDocument/2006/relationships/image" Target="../media/image71.png"/><Relationship Id="rId28" Type="http://schemas.openxmlformats.org/officeDocument/2006/relationships/image" Target="../media/image7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year">
            <a:extLst>
              <a:ext uri="{FF2B5EF4-FFF2-40B4-BE49-F238E27FC236}">
                <a16:creationId xmlns:a16="http://schemas.microsoft.com/office/drawing/2014/main" id="{F8E5C360-5525-6222-2DE4-BF93C58E65A5}"/>
              </a:ext>
            </a:extLst>
          </p:cNvPr>
          <p:cNvSpPr txBox="1"/>
          <p:nvPr/>
        </p:nvSpPr>
        <p:spPr>
          <a:xfrm>
            <a:off x="2678811" y="27432"/>
            <a:ext cx="68282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000080"/>
                </a:solidFill>
                <a:latin typeface="Calibri"/>
              </a:defRPr>
            </a:pPr>
            <a:r>
              <a:t>TỔNG BẢN VẼ &amp; PCS HOÀN THÀNH THEO THÁNG – NĂM 2026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392898F1-73DA-97EA-3460-4BF6AED61236}"/>
              </a:ext>
            </a:extLst>
          </p:cNvPr>
          <p:cNvCxnSpPr/>
          <p:nvPr/>
        </p:nvCxnSpPr>
        <p:spPr>
          <a:xfrm>
            <a:off x="1802908" y="403057"/>
            <a:ext cx="8023860" cy="0"/>
          </a:xfrm>
          <a:prstGeom prst="line">
            <a:avLst/>
          </a:prstGeom>
          <a:ln w="34925">
            <a:solidFill>
              <a:srgbClr val="3749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anchor_year_bv_pcs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556053"/>
            <a:ext cx="12192000" cy="6301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94719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02B24D-0524-07ED-87A1-0A4AFED6BA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_global">
            <a:extLst>
              <a:ext uri="{FF2B5EF4-FFF2-40B4-BE49-F238E27FC236}">
                <a16:creationId xmlns:a16="http://schemas.microsoft.com/office/drawing/2014/main" id="{89B4D1A9-ADB8-A65A-52C7-8B1100C6E6F8}"/>
              </a:ext>
            </a:extLst>
          </p:cNvPr>
          <p:cNvSpPr txBox="1"/>
          <p:nvPr/>
        </p:nvSpPr>
        <p:spPr>
          <a:xfrm>
            <a:off x="1802908" y="0"/>
            <a:ext cx="802385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000080"/>
                </a:solidFill>
                <a:latin typeface="Calibri"/>
              </a:defRPr>
            </a:pPr>
            <a:r>
              <a:t>MỤC TIÊU – THỰC TÍCH BẢN VẼ &amp; SỐ PCS HOÀN THÀNH THEO NGÀY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4F21D9C-2DF6-2E5F-EEB0-90829EF83601}"/>
              </a:ext>
            </a:extLst>
          </p:cNvPr>
          <p:cNvCxnSpPr/>
          <p:nvPr/>
        </p:nvCxnSpPr>
        <p:spPr>
          <a:xfrm>
            <a:off x="1802908" y="403057"/>
            <a:ext cx="8023860" cy="0"/>
          </a:xfrm>
          <a:prstGeom prst="line">
            <a:avLst/>
          </a:prstGeom>
          <a:ln w="34925">
            <a:solidFill>
              <a:srgbClr val="3749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10" name="anchor_global_lef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84640"/>
            <a:ext cx="12192000" cy="3181282"/>
          </a:xfrm>
          <a:prstGeom prst="rect">
            <a:avLst/>
          </a:prstGeom>
        </p:spPr>
      </p:pic>
      <p:pic>
        <p:nvPicPr>
          <p:cNvPr id="1211" name="anchor_global_right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704151"/>
            <a:ext cx="12192000" cy="3181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8005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675FBA-E0CE-4D46-7017-F99C9873E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_file3_table">
            <a:extLst>
              <a:ext uri="{FF2B5EF4-FFF2-40B4-BE49-F238E27FC236}">
                <a16:creationId xmlns:a16="http://schemas.microsoft.com/office/drawing/2014/main" id="{F947EE90-6EB1-9EC2-2406-5AD34CC29DB9}"/>
              </a:ext>
            </a:extLst>
          </p:cNvPr>
          <p:cNvSpPr txBox="1"/>
          <p:nvPr/>
        </p:nvSpPr>
        <p:spPr>
          <a:xfrm>
            <a:off x="2084070" y="0"/>
            <a:ext cx="8023860" cy="4030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008B"/>
                </a:solidFill>
                <a:latin typeface="Calibri"/>
              </a:defRPr>
            </a:pPr>
            <a:r>
              <a:t>BẢN VẼ HOÀN THÀNH, TRỄ HẸN VÀ PHỤ TẢI CÔNG ĐOẠN – 12/06/2026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919C67E9-1795-EE24-6B74-93CBD8603CA1}"/>
              </a:ext>
            </a:extLst>
          </p:cNvPr>
          <p:cNvCxnSpPr/>
          <p:nvPr/>
        </p:nvCxnSpPr>
        <p:spPr>
          <a:xfrm>
            <a:off x="2084070" y="396681"/>
            <a:ext cx="8023860" cy="0"/>
          </a:xfrm>
          <a:prstGeom prst="line">
            <a:avLst/>
          </a:prstGeom>
          <a:ln w="34925">
            <a:solidFill>
              <a:srgbClr val="3749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anchor_file3_table"/>
          <p:cNvGraphicFramePr>
            <a:graphicFrameLocks noGrp="1"/>
          </p:cNvGraphicFramePr>
          <p:nvPr/>
        </p:nvGraphicFramePr>
        <p:xfrm>
          <a:off x="0" y="585215"/>
          <a:ext cx="12192000" cy="62727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/>
                <a:gridCol w="2032000"/>
                <a:gridCol w="2032000"/>
                <a:gridCol w="2032000"/>
                <a:gridCol w="2032000"/>
                <a:gridCol w="2032000"/>
              </a:tblGrid>
              <a:tr h="418183">
                <a:tc>
                  <a:txBody>
                    <a:bodyPr/>
                    <a:lstStyle/>
                    <a:p>
                      <a:pPr algn="ctr">
                        <a:defRPr sz="1500" b="1"/>
                      </a:pPr>
                      <a:r>
                        <a:t>Công đoạn</a:t>
                      </a:r>
                    </a:p>
                  </a:txBody>
                  <a:tcPr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/>
                      </a:pPr>
                      <a:r>
                        <a:t>Phụ tải CĐ hiện tại</a:t>
                      </a:r>
                    </a:p>
                  </a:txBody>
                  <a:tcPr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/>
                      </a:pPr>
                      <a:r>
                        <a:t>Phụ tải CĐ tổng</a:t>
                      </a:r>
                    </a:p>
                  </a:txBody>
                  <a:tcPr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/>
                      </a:pPr>
                      <a:r>
                        <a:t>Số bản vẽ trễ hẹn</a:t>
                      </a:r>
                    </a:p>
                  </a:txBody>
                  <a:tcPr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/>
                      </a:pPr>
                      <a:r>
                        <a:t>Số bản vẽ hoàn thành</a:t>
                      </a:r>
                    </a:p>
                  </a:txBody>
                  <a:tcPr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/>
                      </a:pPr>
                      <a:r>
                        <a:t>Hiệu suất (Ngày)</a:t>
                      </a:r>
                    </a:p>
                  </a:txBody>
                  <a:tcPr>
                    <a:solidFill>
                      <a:srgbClr val="156082"/>
                    </a:solidFill>
                  </a:tcPr>
                </a:tc>
              </a:tr>
              <a:tr h="418183"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AF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5.53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59.09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0000"/>
                          </a:solidFill>
                        </a:defRPr>
                      </a:pPr>
                      <a:r>
                        <a:t>119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41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39.11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</a:tr>
              <a:tr h="418183"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BJ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7.77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39.72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0000"/>
                          </a:solidFill>
                        </a:defRPr>
                      </a:pPr>
                      <a:r>
                        <a:t>97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46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61.53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8183"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DA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0.02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12.71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0000"/>
                          </a:solidFill>
                        </a:defRPr>
                      </a:pPr>
                      <a:r>
                        <a:t>19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17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51.15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</a:tr>
              <a:tr h="418183"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EN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5.56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45.83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0000"/>
                          </a:solidFill>
                        </a:defRPr>
                      </a:pPr>
                      <a:r>
                        <a:t>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25.49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8183"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EW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32.47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76.67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0000"/>
                          </a:solidFill>
                        </a:defRPr>
                      </a:pPr>
                      <a:r>
                        <a:t>55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18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21.62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</a:tr>
              <a:tr h="418183"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GC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48.54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84.31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0000"/>
                          </a:solidFill>
                        </a:defRPr>
                      </a:pPr>
                      <a:r>
                        <a:t>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67.95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8183"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GJ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2.80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32.91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0000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32.28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</a:tr>
              <a:tr h="418183"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GP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7.56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46.09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0000"/>
                          </a:solidFill>
                        </a:defRPr>
                      </a:pPr>
                      <a:r>
                        <a:t>33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63.07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8183"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GR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19.05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49.89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0000"/>
                          </a:solidFill>
                        </a:defRPr>
                      </a:pPr>
                      <a:r>
                        <a:t>35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11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66.93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</a:tr>
              <a:tr h="418183"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GS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10.99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43.95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0000"/>
                          </a:solidFill>
                        </a:defRPr>
                      </a:pPr>
                      <a:r>
                        <a:t>117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75.97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8183"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LA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24.24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27.71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0000"/>
                          </a:solidFill>
                        </a:defRPr>
                      </a:pPr>
                      <a:r>
                        <a:t>66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13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63.43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</a:tr>
              <a:tr h="418183"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LN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57.94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84.66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0000"/>
                          </a:solidFill>
                        </a:defRPr>
                      </a:pPr>
                      <a:r>
                        <a:t>33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25.10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8183"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MA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11.18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26.38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0000"/>
                          </a:solidFill>
                        </a:defRPr>
                      </a:pPr>
                      <a:r>
                        <a:t>63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49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53.78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</a:tr>
              <a:tr h="418193"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MC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25.24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60.79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0000"/>
                          </a:solidFill>
                        </a:defRPr>
                      </a:pPr>
                      <a:r>
                        <a:t>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45.53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82224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BA6CF-9CF4-20FF-5C80-B80239092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_timer">
            <a:extLst>
              <a:ext uri="{FF2B5EF4-FFF2-40B4-BE49-F238E27FC236}">
                <a16:creationId xmlns:a16="http://schemas.microsoft.com/office/drawing/2014/main" id="{2B848CC1-B4A4-A888-E876-FEDB5CFE75EC}"/>
              </a:ext>
            </a:extLst>
          </p:cNvPr>
          <p:cNvSpPr txBox="1"/>
          <p:nvPr/>
        </p:nvSpPr>
        <p:spPr>
          <a:xfrm>
            <a:off x="2084070" y="0"/>
            <a:ext cx="802385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000080"/>
                </a:solidFill>
                <a:latin typeface="Calibri"/>
              </a:defRPr>
            </a:pPr>
            <a:r>
              <a:t>TỈ LỆ HOẠT ĐỘNG MÁY TẠI CÁC CÔNG ĐOẠN TRONG THÁNG 06/2026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F506A12-9ECB-0AB4-BA21-6A7DEF9C15AB}"/>
              </a:ext>
            </a:extLst>
          </p:cNvPr>
          <p:cNvCxnSpPr/>
          <p:nvPr/>
        </p:nvCxnSpPr>
        <p:spPr>
          <a:xfrm>
            <a:off x="2084070" y="403057"/>
            <a:ext cx="8023860" cy="0"/>
          </a:xfrm>
          <a:prstGeom prst="line">
            <a:avLst/>
          </a:prstGeom>
          <a:ln w="34925">
            <a:solidFill>
              <a:srgbClr val="3749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anchor_timer_utilization" descr="timer_utilizatio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553792"/>
            <a:ext cx="12192000" cy="6304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30442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DF93C-F632-7C2E-62EE-6057D1B1A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block">
            <a:extLst>
              <a:ext uri="{FF2B5EF4-FFF2-40B4-BE49-F238E27FC236}">
                <a16:creationId xmlns:a16="http://schemas.microsoft.com/office/drawing/2014/main" id="{6AF26D8A-4DE7-3510-785F-E06FE74F3059}"/>
              </a:ext>
            </a:extLst>
          </p:cNvPr>
          <p:cNvSpPr txBox="1"/>
          <p:nvPr/>
        </p:nvSpPr>
        <p:spPr>
          <a:xfrm>
            <a:off x="2678811" y="27432"/>
            <a:ext cx="68282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000080"/>
                </a:solidFill>
                <a:latin typeface="Calibri"/>
              </a:defRPr>
            </a:pPr>
            <a:r>
              <a:t>TÍNH SẢN XUẤT – TỈ LỆ HOẠT ĐỘNG MÁY CÔNG ĐOẠN AA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EB8D771B-3CE2-9624-65D0-7319A4118B91}"/>
              </a:ext>
            </a:extLst>
          </p:cNvPr>
          <p:cNvCxnSpPr/>
          <p:nvPr/>
        </p:nvCxnSpPr>
        <p:spPr>
          <a:xfrm>
            <a:off x="1802908" y="403057"/>
            <a:ext cx="8023860" cy="0"/>
          </a:xfrm>
          <a:prstGeom prst="line">
            <a:avLst/>
          </a:prstGeom>
          <a:ln w="34925">
            <a:solidFill>
              <a:srgbClr val="3749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20" name="anchor_block_lef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4068"/>
            <a:ext cx="12201144" cy="3193531"/>
          </a:xfrm>
          <a:prstGeom prst="rect">
            <a:avLst/>
          </a:prstGeom>
        </p:spPr>
      </p:pic>
      <p:pic>
        <p:nvPicPr>
          <p:cNvPr id="1221" name="anchor_block_right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664468"/>
            <a:ext cx="12201144" cy="3193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69686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3EC890-1E56-68E2-1956-FA68FC652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block">
            <a:extLst>
              <a:ext uri="{FF2B5EF4-FFF2-40B4-BE49-F238E27FC236}">
                <a16:creationId xmlns:a16="http://schemas.microsoft.com/office/drawing/2014/main" id="{524A642E-539A-E5F0-B406-DC78EB04C556}"/>
              </a:ext>
            </a:extLst>
          </p:cNvPr>
          <p:cNvSpPr txBox="1"/>
          <p:nvPr/>
        </p:nvSpPr>
        <p:spPr>
          <a:xfrm>
            <a:off x="2678811" y="27432"/>
            <a:ext cx="68282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000080"/>
                </a:solidFill>
                <a:latin typeface="Calibri"/>
              </a:defRPr>
            </a:pPr>
            <a:r>
              <a:t>TÍNH SẢN XUẤT – TỈ LỆ HOẠT ĐỘNG MÁY CÔNG ĐOẠN MA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6C11E59D-89E2-D013-633C-033B0357E25F}"/>
              </a:ext>
            </a:extLst>
          </p:cNvPr>
          <p:cNvCxnSpPr/>
          <p:nvPr/>
        </p:nvCxnSpPr>
        <p:spPr>
          <a:xfrm>
            <a:off x="1802908" y="403057"/>
            <a:ext cx="8023860" cy="0"/>
          </a:xfrm>
          <a:prstGeom prst="line">
            <a:avLst/>
          </a:prstGeom>
          <a:ln w="34925">
            <a:solidFill>
              <a:srgbClr val="3749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08" name="anchor_block_lef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1250"/>
            <a:ext cx="12188952" cy="2231956"/>
          </a:xfrm>
          <a:prstGeom prst="rect">
            <a:avLst/>
          </a:prstGeom>
        </p:spPr>
      </p:pic>
      <p:pic>
        <p:nvPicPr>
          <p:cNvPr id="1509" name="anchor_block_right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90192"/>
            <a:ext cx="12188952" cy="2231956"/>
          </a:xfrm>
          <a:prstGeom prst="rect">
            <a:avLst/>
          </a:prstGeom>
        </p:spPr>
      </p:pic>
      <p:pic>
        <p:nvPicPr>
          <p:cNvPr id="1510" name="anchor_timer" descr="timer_block_M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919133"/>
            <a:ext cx="12188952" cy="1927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2384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E44C59-489F-8F2B-3155-E4CA00279F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block">
            <a:extLst>
              <a:ext uri="{FF2B5EF4-FFF2-40B4-BE49-F238E27FC236}">
                <a16:creationId xmlns:a16="http://schemas.microsoft.com/office/drawing/2014/main" id="{46C9E094-EA2B-5D79-123A-24754919B07C}"/>
              </a:ext>
            </a:extLst>
          </p:cNvPr>
          <p:cNvSpPr txBox="1"/>
          <p:nvPr/>
        </p:nvSpPr>
        <p:spPr>
          <a:xfrm>
            <a:off x="2678811" y="27432"/>
            <a:ext cx="68282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000080"/>
                </a:solidFill>
                <a:latin typeface="Calibri"/>
              </a:defRPr>
            </a:pPr>
            <a:r>
              <a:t>TÍNH SẢN XUẤT – TỈ LỆ HOẠT ĐỘNG MÁY CÔNG ĐOẠN LA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F09E9232-6918-E409-57C7-80D97F6E28E2}"/>
              </a:ext>
            </a:extLst>
          </p:cNvPr>
          <p:cNvCxnSpPr/>
          <p:nvPr/>
        </p:nvCxnSpPr>
        <p:spPr>
          <a:xfrm>
            <a:off x="1802908" y="403057"/>
            <a:ext cx="8023860" cy="0"/>
          </a:xfrm>
          <a:prstGeom prst="line">
            <a:avLst/>
          </a:prstGeom>
          <a:ln w="34925">
            <a:solidFill>
              <a:srgbClr val="3749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08" name="anchor_block_lef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1250"/>
            <a:ext cx="12188952" cy="2231956"/>
          </a:xfrm>
          <a:prstGeom prst="rect">
            <a:avLst/>
          </a:prstGeom>
        </p:spPr>
      </p:pic>
      <p:pic>
        <p:nvPicPr>
          <p:cNvPr id="1509" name="anchor_block_right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90192"/>
            <a:ext cx="12188952" cy="2231956"/>
          </a:xfrm>
          <a:prstGeom prst="rect">
            <a:avLst/>
          </a:prstGeom>
        </p:spPr>
      </p:pic>
      <p:pic>
        <p:nvPicPr>
          <p:cNvPr id="1510" name="anchor_timer" descr="timer_block_L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919133"/>
            <a:ext cx="12188952" cy="1927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10410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5A9B6-7315-8E7C-0CBA-E1FD27BD2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block">
            <a:extLst>
              <a:ext uri="{FF2B5EF4-FFF2-40B4-BE49-F238E27FC236}">
                <a16:creationId xmlns:a16="http://schemas.microsoft.com/office/drawing/2014/main" id="{F7838D5C-DFBB-FE21-B175-9F16399FB695}"/>
              </a:ext>
            </a:extLst>
          </p:cNvPr>
          <p:cNvSpPr txBox="1"/>
          <p:nvPr/>
        </p:nvSpPr>
        <p:spPr>
          <a:xfrm>
            <a:off x="2678811" y="27432"/>
            <a:ext cx="68282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000080"/>
                </a:solidFill>
                <a:latin typeface="Calibri"/>
              </a:defRPr>
            </a:pPr>
            <a:r>
              <a:t>TÍNH SẢN XUẤT – TỈ LỆ HOẠT ĐỘNG MÁY CÔNG ĐOẠN BJ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8BAEE67F-6F62-ACCF-7794-2F92EBB82195}"/>
              </a:ext>
            </a:extLst>
          </p:cNvPr>
          <p:cNvCxnSpPr/>
          <p:nvPr/>
        </p:nvCxnSpPr>
        <p:spPr>
          <a:xfrm>
            <a:off x="1802908" y="403057"/>
            <a:ext cx="8023860" cy="0"/>
          </a:xfrm>
          <a:prstGeom prst="line">
            <a:avLst/>
          </a:prstGeom>
          <a:ln w="34925">
            <a:solidFill>
              <a:srgbClr val="3749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08" name="anchor_block_lef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1250"/>
            <a:ext cx="12188952" cy="2231956"/>
          </a:xfrm>
          <a:prstGeom prst="rect">
            <a:avLst/>
          </a:prstGeom>
        </p:spPr>
      </p:pic>
      <p:pic>
        <p:nvPicPr>
          <p:cNvPr id="1509" name="anchor_block_right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90192"/>
            <a:ext cx="12188952" cy="2231956"/>
          </a:xfrm>
          <a:prstGeom prst="rect">
            <a:avLst/>
          </a:prstGeom>
        </p:spPr>
      </p:pic>
      <p:pic>
        <p:nvPicPr>
          <p:cNvPr id="1510" name="anchor_timer" descr="timer_block_BJ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919133"/>
            <a:ext cx="12188952" cy="1927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1327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C848E-724B-FEAC-1D8E-51E1C18F9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block">
            <a:extLst>
              <a:ext uri="{FF2B5EF4-FFF2-40B4-BE49-F238E27FC236}">
                <a16:creationId xmlns:a16="http://schemas.microsoft.com/office/drawing/2014/main" id="{4D2D2C17-ED32-A242-89EE-699ABAE541BD}"/>
              </a:ext>
            </a:extLst>
          </p:cNvPr>
          <p:cNvSpPr txBox="1"/>
          <p:nvPr/>
        </p:nvSpPr>
        <p:spPr>
          <a:xfrm>
            <a:off x="2678811" y="27432"/>
            <a:ext cx="68282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000080"/>
                </a:solidFill>
                <a:latin typeface="Calibri"/>
              </a:defRPr>
            </a:pPr>
            <a:r>
              <a:t>TÍNH SẢN XUẤT – TỈ LỆ HOẠT ĐỘNG MÁY CÔNG ĐOẠN DA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5CA609C2-3EAD-A7D4-5DBE-3A600085FD38}"/>
              </a:ext>
            </a:extLst>
          </p:cNvPr>
          <p:cNvCxnSpPr/>
          <p:nvPr/>
        </p:nvCxnSpPr>
        <p:spPr>
          <a:xfrm>
            <a:off x="1802908" y="403057"/>
            <a:ext cx="8023860" cy="0"/>
          </a:xfrm>
          <a:prstGeom prst="line">
            <a:avLst/>
          </a:prstGeom>
          <a:ln w="34925">
            <a:solidFill>
              <a:srgbClr val="3749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20" name="anchor_block_lef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4068"/>
            <a:ext cx="12201144" cy="3193531"/>
          </a:xfrm>
          <a:prstGeom prst="rect">
            <a:avLst/>
          </a:prstGeom>
        </p:spPr>
      </p:pic>
      <p:pic>
        <p:nvPicPr>
          <p:cNvPr id="1221" name="anchor_block_right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664468"/>
            <a:ext cx="12201144" cy="3193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63991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236B1-8133-4DEB-3443-1D206EA548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block">
            <a:extLst>
              <a:ext uri="{FF2B5EF4-FFF2-40B4-BE49-F238E27FC236}">
                <a16:creationId xmlns:a16="http://schemas.microsoft.com/office/drawing/2014/main" id="{79FFED56-9102-3DD9-C3DC-F2214B6CEB52}"/>
              </a:ext>
            </a:extLst>
          </p:cNvPr>
          <p:cNvSpPr txBox="1"/>
          <p:nvPr/>
        </p:nvSpPr>
        <p:spPr>
          <a:xfrm>
            <a:off x="2678811" y="27432"/>
            <a:ext cx="68282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000080"/>
                </a:solidFill>
                <a:latin typeface="Calibri"/>
              </a:defRPr>
            </a:pPr>
            <a:r>
              <a:t>TÍNH SẢN XUẤT – TỈ LỆ HOẠT ĐỘNG MÁY CÔNG ĐOẠN GS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B9AB2382-0B51-B3CC-B3A2-30A48B2D6C03}"/>
              </a:ext>
            </a:extLst>
          </p:cNvPr>
          <p:cNvCxnSpPr/>
          <p:nvPr/>
        </p:nvCxnSpPr>
        <p:spPr>
          <a:xfrm>
            <a:off x="1802908" y="403057"/>
            <a:ext cx="8023860" cy="0"/>
          </a:xfrm>
          <a:prstGeom prst="line">
            <a:avLst/>
          </a:prstGeom>
          <a:ln w="34925">
            <a:solidFill>
              <a:srgbClr val="3749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08" name="anchor_block_lef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1250"/>
            <a:ext cx="12188952" cy="2231956"/>
          </a:xfrm>
          <a:prstGeom prst="rect">
            <a:avLst/>
          </a:prstGeom>
        </p:spPr>
      </p:pic>
      <p:pic>
        <p:nvPicPr>
          <p:cNvPr id="1509" name="anchor_block_right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90192"/>
            <a:ext cx="12188952" cy="2231956"/>
          </a:xfrm>
          <a:prstGeom prst="rect">
            <a:avLst/>
          </a:prstGeom>
        </p:spPr>
      </p:pic>
      <p:pic>
        <p:nvPicPr>
          <p:cNvPr id="1510" name="anchor_timer" descr="timer_block_G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919133"/>
            <a:ext cx="12188952" cy="1927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46756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A2D788-54F2-7693-4962-53D8C9288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block">
            <a:extLst>
              <a:ext uri="{FF2B5EF4-FFF2-40B4-BE49-F238E27FC236}">
                <a16:creationId xmlns:a16="http://schemas.microsoft.com/office/drawing/2014/main" id="{7AF56569-2F47-9217-12D5-A5C614F1EF05}"/>
              </a:ext>
            </a:extLst>
          </p:cNvPr>
          <p:cNvSpPr txBox="1"/>
          <p:nvPr/>
        </p:nvSpPr>
        <p:spPr>
          <a:xfrm>
            <a:off x="2678811" y="27432"/>
            <a:ext cx="68282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000080"/>
                </a:solidFill>
                <a:latin typeface="Calibri"/>
              </a:defRPr>
            </a:pPr>
            <a:r>
              <a:t>TÍNH SẢN XUẤT – TỈ LỆ HOẠT ĐỘNG MÁY CÔNG ĐOẠN GR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15BDBB9-252B-C67D-EC34-A4F01305D3CE}"/>
              </a:ext>
            </a:extLst>
          </p:cNvPr>
          <p:cNvCxnSpPr/>
          <p:nvPr/>
        </p:nvCxnSpPr>
        <p:spPr>
          <a:xfrm>
            <a:off x="1802908" y="403057"/>
            <a:ext cx="8023860" cy="0"/>
          </a:xfrm>
          <a:prstGeom prst="line">
            <a:avLst/>
          </a:prstGeom>
          <a:ln w="34925">
            <a:solidFill>
              <a:srgbClr val="3749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08" name="anchor_block_lef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1250"/>
            <a:ext cx="12188952" cy="2231956"/>
          </a:xfrm>
          <a:prstGeom prst="rect">
            <a:avLst/>
          </a:prstGeom>
        </p:spPr>
      </p:pic>
      <p:pic>
        <p:nvPicPr>
          <p:cNvPr id="1509" name="anchor_block_right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90192"/>
            <a:ext cx="12188952" cy="2231956"/>
          </a:xfrm>
          <a:prstGeom prst="rect">
            <a:avLst/>
          </a:prstGeom>
        </p:spPr>
      </p:pic>
      <p:pic>
        <p:nvPicPr>
          <p:cNvPr id="1510" name="anchor_timer" descr="timer_block_G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919133"/>
            <a:ext cx="12188952" cy="1927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05296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765381-EBA6-FF05-1DBC-CFC220E80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block">
            <a:extLst>
              <a:ext uri="{FF2B5EF4-FFF2-40B4-BE49-F238E27FC236}">
                <a16:creationId xmlns:a16="http://schemas.microsoft.com/office/drawing/2014/main" id="{6267E364-4546-D8CE-4039-2F34A964F0AC}"/>
              </a:ext>
            </a:extLst>
          </p:cNvPr>
          <p:cNvSpPr txBox="1"/>
          <p:nvPr/>
        </p:nvSpPr>
        <p:spPr>
          <a:xfrm>
            <a:off x="2678811" y="27432"/>
            <a:ext cx="68282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000080"/>
                </a:solidFill>
                <a:latin typeface="Calibri"/>
              </a:defRPr>
            </a:pPr>
            <a:r>
              <a:t>TÍNH SẢN XUẤT – TỈ LỆ HOẠT ĐỘNG MÁY CÔNG ĐOẠN GC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14556DDD-019B-C040-B28A-8A2C966D5090}"/>
              </a:ext>
            </a:extLst>
          </p:cNvPr>
          <p:cNvCxnSpPr/>
          <p:nvPr/>
        </p:nvCxnSpPr>
        <p:spPr>
          <a:xfrm>
            <a:off x="1802908" y="403057"/>
            <a:ext cx="8023860" cy="0"/>
          </a:xfrm>
          <a:prstGeom prst="line">
            <a:avLst/>
          </a:prstGeom>
          <a:ln w="34925">
            <a:solidFill>
              <a:srgbClr val="3749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08" name="anchor_block_lef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1250"/>
            <a:ext cx="12188952" cy="2231956"/>
          </a:xfrm>
          <a:prstGeom prst="rect">
            <a:avLst/>
          </a:prstGeom>
        </p:spPr>
      </p:pic>
      <p:pic>
        <p:nvPicPr>
          <p:cNvPr id="1509" name="anchor_block_right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90192"/>
            <a:ext cx="12188952" cy="2231956"/>
          </a:xfrm>
          <a:prstGeom prst="rect">
            <a:avLst/>
          </a:prstGeom>
        </p:spPr>
      </p:pic>
      <p:pic>
        <p:nvPicPr>
          <p:cNvPr id="1510" name="anchor_timer" descr="timer_block_G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919133"/>
            <a:ext cx="12188952" cy="1927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96654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E4177-8309-37EB-0547-38F50A0D0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block">
            <a:extLst>
              <a:ext uri="{FF2B5EF4-FFF2-40B4-BE49-F238E27FC236}">
                <a16:creationId xmlns:a16="http://schemas.microsoft.com/office/drawing/2014/main" id="{54FED68F-3ACE-9995-67AF-253B95D7EFF6}"/>
              </a:ext>
            </a:extLst>
          </p:cNvPr>
          <p:cNvSpPr txBox="1"/>
          <p:nvPr/>
        </p:nvSpPr>
        <p:spPr>
          <a:xfrm>
            <a:off x="2678811" y="27432"/>
            <a:ext cx="68282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000080"/>
                </a:solidFill>
                <a:latin typeface="Calibri"/>
              </a:defRPr>
            </a:pPr>
            <a:r>
              <a:t>TÍNH SẢN XUẤT – TỈ LỆ HOẠT ĐỘNG MÁY CÔNG ĐOẠN GJ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C5B43B0-2A71-57F4-441B-1E057CA2CDB2}"/>
              </a:ext>
            </a:extLst>
          </p:cNvPr>
          <p:cNvCxnSpPr/>
          <p:nvPr/>
        </p:nvCxnSpPr>
        <p:spPr>
          <a:xfrm>
            <a:off x="1802908" y="403057"/>
            <a:ext cx="8023860" cy="0"/>
          </a:xfrm>
          <a:prstGeom prst="line">
            <a:avLst/>
          </a:prstGeom>
          <a:ln w="34925">
            <a:solidFill>
              <a:srgbClr val="3749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08" name="anchor_block_lef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1250"/>
            <a:ext cx="12188952" cy="2231956"/>
          </a:xfrm>
          <a:prstGeom prst="rect">
            <a:avLst/>
          </a:prstGeom>
        </p:spPr>
      </p:pic>
      <p:pic>
        <p:nvPicPr>
          <p:cNvPr id="1509" name="anchor_block_right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90192"/>
            <a:ext cx="12188952" cy="2231956"/>
          </a:xfrm>
          <a:prstGeom prst="rect">
            <a:avLst/>
          </a:prstGeom>
        </p:spPr>
      </p:pic>
      <p:pic>
        <p:nvPicPr>
          <p:cNvPr id="1510" name="anchor_timer" descr="timer_block_GJ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919133"/>
            <a:ext cx="12188952" cy="1927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28053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9D996E-F5CE-51C9-6AE4-836510F76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block">
            <a:extLst>
              <a:ext uri="{FF2B5EF4-FFF2-40B4-BE49-F238E27FC236}">
                <a16:creationId xmlns:a16="http://schemas.microsoft.com/office/drawing/2014/main" id="{466131B4-20FF-26FE-93D7-780DBC36D7B5}"/>
              </a:ext>
            </a:extLst>
          </p:cNvPr>
          <p:cNvSpPr txBox="1"/>
          <p:nvPr/>
        </p:nvSpPr>
        <p:spPr>
          <a:xfrm>
            <a:off x="2678811" y="27432"/>
            <a:ext cx="68282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000080"/>
                </a:solidFill>
                <a:latin typeface="Calibri"/>
              </a:defRPr>
            </a:pPr>
            <a:r>
              <a:t>TÍNH SẢN XUẤT – TỈ LỆ HOẠT ĐỘNG MÁY CÔNG ĐOẠN MC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2A6B03D9-B831-6470-A47D-61EA51868A78}"/>
              </a:ext>
            </a:extLst>
          </p:cNvPr>
          <p:cNvCxnSpPr/>
          <p:nvPr/>
        </p:nvCxnSpPr>
        <p:spPr>
          <a:xfrm>
            <a:off x="1802908" y="403057"/>
            <a:ext cx="8023860" cy="0"/>
          </a:xfrm>
          <a:prstGeom prst="line">
            <a:avLst/>
          </a:prstGeom>
          <a:ln w="34925">
            <a:solidFill>
              <a:srgbClr val="3749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08" name="anchor_block_lef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1250"/>
            <a:ext cx="12188952" cy="2231956"/>
          </a:xfrm>
          <a:prstGeom prst="rect">
            <a:avLst/>
          </a:prstGeom>
        </p:spPr>
      </p:pic>
      <p:pic>
        <p:nvPicPr>
          <p:cNvPr id="1509" name="anchor_block_right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90192"/>
            <a:ext cx="12188952" cy="2231956"/>
          </a:xfrm>
          <a:prstGeom prst="rect">
            <a:avLst/>
          </a:prstGeom>
        </p:spPr>
      </p:pic>
      <p:pic>
        <p:nvPicPr>
          <p:cNvPr id="1510" name="anchor_timer" descr="timer_block_M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919133"/>
            <a:ext cx="12188952" cy="1927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01536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B9E748-A65B-38DE-B77B-BF55A22E2F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block">
            <a:extLst>
              <a:ext uri="{FF2B5EF4-FFF2-40B4-BE49-F238E27FC236}">
                <a16:creationId xmlns:a16="http://schemas.microsoft.com/office/drawing/2014/main" id="{FD91A7B4-0E95-6866-28D3-92F5177F50A7}"/>
              </a:ext>
            </a:extLst>
          </p:cNvPr>
          <p:cNvSpPr txBox="1"/>
          <p:nvPr/>
        </p:nvSpPr>
        <p:spPr>
          <a:xfrm>
            <a:off x="2678811" y="27432"/>
            <a:ext cx="68282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000080"/>
                </a:solidFill>
                <a:latin typeface="Calibri"/>
              </a:defRPr>
            </a:pPr>
            <a:r>
              <a:t>TÍNH SẢN XUẤT – TỈ LỆ HOẠT ĐỘNG MÁY CÔNG ĐOẠN LN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9E54DA51-4575-2699-5979-AC9B7E927B2E}"/>
              </a:ext>
            </a:extLst>
          </p:cNvPr>
          <p:cNvCxnSpPr/>
          <p:nvPr/>
        </p:nvCxnSpPr>
        <p:spPr>
          <a:xfrm>
            <a:off x="1802908" y="403057"/>
            <a:ext cx="8023860" cy="0"/>
          </a:xfrm>
          <a:prstGeom prst="line">
            <a:avLst/>
          </a:prstGeom>
          <a:ln w="34925">
            <a:solidFill>
              <a:srgbClr val="3749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08" name="anchor_block_lef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1250"/>
            <a:ext cx="12188952" cy="2231956"/>
          </a:xfrm>
          <a:prstGeom prst="rect">
            <a:avLst/>
          </a:prstGeom>
        </p:spPr>
      </p:pic>
      <p:pic>
        <p:nvPicPr>
          <p:cNvPr id="1509" name="anchor_block_right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90192"/>
            <a:ext cx="12188952" cy="2231956"/>
          </a:xfrm>
          <a:prstGeom prst="rect">
            <a:avLst/>
          </a:prstGeom>
        </p:spPr>
      </p:pic>
      <p:pic>
        <p:nvPicPr>
          <p:cNvPr id="1510" name="anchor_timer" descr="timer_block_L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919133"/>
            <a:ext cx="12188952" cy="1927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26213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14B993-AF80-C832-DE07-172743C81F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block">
            <a:extLst>
              <a:ext uri="{FF2B5EF4-FFF2-40B4-BE49-F238E27FC236}">
                <a16:creationId xmlns:a16="http://schemas.microsoft.com/office/drawing/2014/main" id="{3C895401-DDC1-5E21-6C82-71F5FFF70C65}"/>
              </a:ext>
            </a:extLst>
          </p:cNvPr>
          <p:cNvSpPr txBox="1"/>
          <p:nvPr/>
        </p:nvSpPr>
        <p:spPr>
          <a:xfrm>
            <a:off x="2678811" y="27432"/>
            <a:ext cx="68282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000080"/>
                </a:solidFill>
                <a:latin typeface="Calibri"/>
              </a:defRPr>
            </a:pPr>
            <a:r>
              <a:t>TÍNH SẢN XUẤT – TỈ LỆ HOẠT ĐỘNG MÁY CÔNG ĐOẠN EN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628A109E-22CE-8D25-62B5-56AB05D24BF5}"/>
              </a:ext>
            </a:extLst>
          </p:cNvPr>
          <p:cNvCxnSpPr/>
          <p:nvPr/>
        </p:nvCxnSpPr>
        <p:spPr>
          <a:xfrm>
            <a:off x="1802908" y="403057"/>
            <a:ext cx="8023860" cy="0"/>
          </a:xfrm>
          <a:prstGeom prst="line">
            <a:avLst/>
          </a:prstGeom>
          <a:ln w="34925">
            <a:solidFill>
              <a:srgbClr val="3749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08" name="anchor_block_lef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1250"/>
            <a:ext cx="12188952" cy="2231956"/>
          </a:xfrm>
          <a:prstGeom prst="rect">
            <a:avLst/>
          </a:prstGeom>
        </p:spPr>
      </p:pic>
      <p:pic>
        <p:nvPicPr>
          <p:cNvPr id="1509" name="anchor_block_right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90192"/>
            <a:ext cx="12188952" cy="2231956"/>
          </a:xfrm>
          <a:prstGeom prst="rect">
            <a:avLst/>
          </a:prstGeom>
        </p:spPr>
      </p:pic>
      <p:pic>
        <p:nvPicPr>
          <p:cNvPr id="1510" name="anchor_timer" descr="timer_block_E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4919133"/>
            <a:ext cx="12188952" cy="1927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13054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A2039-7F3F-49CF-D444-E3B9DD8377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block">
            <a:extLst>
              <a:ext uri="{FF2B5EF4-FFF2-40B4-BE49-F238E27FC236}">
                <a16:creationId xmlns:a16="http://schemas.microsoft.com/office/drawing/2014/main" id="{108201B0-CC04-C15A-180C-4978C634A62A}"/>
              </a:ext>
            </a:extLst>
          </p:cNvPr>
          <p:cNvSpPr txBox="1"/>
          <p:nvPr/>
        </p:nvSpPr>
        <p:spPr>
          <a:xfrm>
            <a:off x="2678811" y="27432"/>
            <a:ext cx="68282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000080"/>
                </a:solidFill>
                <a:latin typeface="Calibri"/>
              </a:defRPr>
            </a:pPr>
            <a:r>
              <a:t>TÍNH SẢN XUẤT – TỈ LỆ HOẠT ĐỘNG MÁY CÔNG ĐOẠN EW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E1F4633F-6CA6-9A8D-33FE-7B230BC7B8C2}"/>
              </a:ext>
            </a:extLst>
          </p:cNvPr>
          <p:cNvCxnSpPr/>
          <p:nvPr/>
        </p:nvCxnSpPr>
        <p:spPr>
          <a:xfrm>
            <a:off x="1802908" y="403057"/>
            <a:ext cx="8023860" cy="0"/>
          </a:xfrm>
          <a:prstGeom prst="line">
            <a:avLst/>
          </a:prstGeom>
          <a:ln w="34925">
            <a:solidFill>
              <a:srgbClr val="3749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08" name="anchor_block_lef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1250"/>
            <a:ext cx="12188952" cy="2231956"/>
          </a:xfrm>
          <a:prstGeom prst="rect">
            <a:avLst/>
          </a:prstGeom>
        </p:spPr>
      </p:pic>
      <p:pic>
        <p:nvPicPr>
          <p:cNvPr id="1509" name="anchor_block_right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90192"/>
            <a:ext cx="12188952" cy="2231956"/>
          </a:xfrm>
          <a:prstGeom prst="rect">
            <a:avLst/>
          </a:prstGeom>
        </p:spPr>
      </p:pic>
      <p:pic>
        <p:nvPicPr>
          <p:cNvPr id="1510" name="anchor_timer" descr="timer_block_E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919133"/>
            <a:ext cx="12188952" cy="1927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0494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D2C75A-AF88-7DF7-4BC9-3F11D3C9CA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block">
            <a:extLst>
              <a:ext uri="{FF2B5EF4-FFF2-40B4-BE49-F238E27FC236}">
                <a16:creationId xmlns:a16="http://schemas.microsoft.com/office/drawing/2014/main" id="{7C2443A0-A56D-182B-BC3C-A012874F11D1}"/>
              </a:ext>
            </a:extLst>
          </p:cNvPr>
          <p:cNvSpPr txBox="1"/>
          <p:nvPr/>
        </p:nvSpPr>
        <p:spPr>
          <a:xfrm>
            <a:off x="2678811" y="27432"/>
            <a:ext cx="68282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000080"/>
                </a:solidFill>
                <a:latin typeface="Calibri"/>
              </a:defRPr>
            </a:pPr>
            <a:r>
              <a:t>TÍNH SẢN XUẤT – TỈ LỆ HOẠT ĐỘNG MÁY CÔNG ĐOẠN GP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B930505-7A2F-6DDA-12E3-AF1C1735AB18}"/>
              </a:ext>
            </a:extLst>
          </p:cNvPr>
          <p:cNvCxnSpPr/>
          <p:nvPr/>
        </p:nvCxnSpPr>
        <p:spPr>
          <a:xfrm>
            <a:off x="1802908" y="403057"/>
            <a:ext cx="8023860" cy="0"/>
          </a:xfrm>
          <a:prstGeom prst="line">
            <a:avLst/>
          </a:prstGeom>
          <a:ln w="34925">
            <a:solidFill>
              <a:srgbClr val="3749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08" name="anchor_block_lef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1250"/>
            <a:ext cx="12188952" cy="2231956"/>
          </a:xfrm>
          <a:prstGeom prst="rect">
            <a:avLst/>
          </a:prstGeom>
        </p:spPr>
      </p:pic>
      <p:pic>
        <p:nvPicPr>
          <p:cNvPr id="1509" name="anchor_block_right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90192"/>
            <a:ext cx="12188952" cy="2231956"/>
          </a:xfrm>
          <a:prstGeom prst="rect">
            <a:avLst/>
          </a:prstGeom>
        </p:spPr>
      </p:pic>
      <p:pic>
        <p:nvPicPr>
          <p:cNvPr id="1510" name="anchor_timer" descr="timer_block_G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919133"/>
            <a:ext cx="12188952" cy="1927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00152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59D6C8-D0CC-054F-A44E-BAA3C97B9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costdown">
            <a:extLst>
              <a:ext uri="{FF2B5EF4-FFF2-40B4-BE49-F238E27FC236}">
                <a16:creationId xmlns:a16="http://schemas.microsoft.com/office/drawing/2014/main" id="{2F5EAA73-B855-EAD1-8559-84A028AAA2D6}"/>
              </a:ext>
            </a:extLst>
          </p:cNvPr>
          <p:cNvSpPr txBox="1"/>
          <p:nvPr/>
        </p:nvSpPr>
        <p:spPr>
          <a:xfrm>
            <a:off x="2678811" y="27432"/>
            <a:ext cx="68282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000080"/>
                </a:solidFill>
                <a:latin typeface="Calibri"/>
              </a:defRPr>
            </a:pPr>
            <a:r>
              <a:t>COSTDOWN NỘI TÁC – TỔNG HỢP NĂM 2026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9FE929AD-0132-7175-0F0C-05A198911306}"/>
              </a:ext>
            </a:extLst>
          </p:cNvPr>
          <p:cNvCxnSpPr/>
          <p:nvPr/>
        </p:nvCxnSpPr>
        <p:spPr>
          <a:xfrm>
            <a:off x="1802908" y="403057"/>
            <a:ext cx="8023860" cy="0"/>
          </a:xfrm>
          <a:prstGeom prst="line">
            <a:avLst/>
          </a:prstGeom>
          <a:ln w="34925">
            <a:solidFill>
              <a:srgbClr val="3749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04" name="anchor_costdown_noitac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048" y="486858"/>
            <a:ext cx="12192000" cy="3200400"/>
          </a:xfrm>
          <a:prstGeom prst="rect">
            <a:avLst/>
          </a:prstGeom>
        </p:spPr>
      </p:pic>
      <p:pic>
        <p:nvPicPr>
          <p:cNvPr id="1105" name="anchor_costdown_tong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687258"/>
            <a:ext cx="12192000" cy="320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99221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F6AE1-1951-6A91-410C-83838FA2D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timer_khongnguoi">
            <a:extLst>
              <a:ext uri="{FF2B5EF4-FFF2-40B4-BE49-F238E27FC236}">
                <a16:creationId xmlns:a16="http://schemas.microsoft.com/office/drawing/2014/main" id="{61F75F4C-A597-35EE-7427-191ABD4332DA}"/>
              </a:ext>
            </a:extLst>
          </p:cNvPr>
          <p:cNvSpPr txBox="1"/>
          <p:nvPr/>
        </p:nvSpPr>
        <p:spPr>
          <a:xfrm>
            <a:off x="2678811" y="27432"/>
            <a:ext cx="68282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000080"/>
                </a:solidFill>
                <a:latin typeface="Calibri"/>
              </a:defRPr>
            </a:pPr>
            <a:r>
              <a:t>BIỂU ĐỒ TỈ LỆ HOẠT ĐỘNG MÁY KHÔNG NGƯỜI NĂM 2026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F360BE83-0A20-80C7-2E7D-34685D1F5450}"/>
              </a:ext>
            </a:extLst>
          </p:cNvPr>
          <p:cNvCxnSpPr/>
          <p:nvPr/>
        </p:nvCxnSpPr>
        <p:spPr>
          <a:xfrm>
            <a:off x="1802908" y="403057"/>
            <a:ext cx="8023860" cy="0"/>
          </a:xfrm>
          <a:prstGeom prst="line">
            <a:avLst/>
          </a:prstGeom>
          <a:ln w="34925">
            <a:solidFill>
              <a:srgbClr val="3749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anchor_timer_khong_nguoi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" y="556053"/>
            <a:ext cx="12192000" cy="6301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86689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359</TotalTime>
  <Words>350</Words>
  <Application>Microsoft Office PowerPoint</Application>
  <PresentationFormat>Widescreen</PresentationFormat>
  <Paragraphs>110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12329 Hoang</dc:creator>
  <cp:lastModifiedBy>VDM/HOANG LE PHUOC</cp:lastModifiedBy>
  <cp:revision>112</cp:revision>
  <dcterms:created xsi:type="dcterms:W3CDTF">2026-03-31T02:02:07Z</dcterms:created>
  <dcterms:modified xsi:type="dcterms:W3CDTF">2026-06-04T06:26:01Z</dcterms:modified>
</cp:coreProperties>
</file>