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87" r:id="rId7"/>
    <p:sldId id="308" r:id="rId8"/>
    <p:sldId id="309" r:id="rId9"/>
    <p:sldId id="278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274" r:id="rId20"/>
    <p:sldId id="321" r:id="rId21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1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97446-8BEC-4341-A683-89EF25AA7459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CE58F-A990-4421-9AEE-4FAB7048C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693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1pPr>
    <a:lvl2pPr marL="475363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2pPr>
    <a:lvl3pPr marL="950728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3pPr>
    <a:lvl4pPr marL="1426092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4pPr>
    <a:lvl5pPr marL="1901455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5pPr>
    <a:lvl6pPr marL="2376819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6pPr>
    <a:lvl7pPr marL="2852182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7pPr>
    <a:lvl8pPr marL="3327546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8pPr>
    <a:lvl9pPr marL="3802909" algn="l" defTabSz="950728" rtl="0" eaLnBrk="1" latinLnBrk="0" hangingPunct="1">
      <a:defRPr sz="12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1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0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2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4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9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2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3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7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6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7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61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52292-E485-4F77-8495-E7E195AEF7AC}" type="datetimeFigureOut">
              <a:rPr lang="en-US" smtClean="0"/>
              <a:t>04/06/2026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C460A-A10D-4651-BD7F-D5CE56010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8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29.png"/><Relationship Id="rId4" Type="http://schemas.openxmlformats.org/officeDocument/2006/relationships/image" Target="../media/image13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8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Relationship Id="rId14" Type="http://schemas.openxmlformats.org/officeDocument/2006/relationships/image" Target="../media/image9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132.png"/><Relationship Id="rId7" Type="http://schemas.openxmlformats.org/officeDocument/2006/relationships/image" Target="../media/image1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83.png"/><Relationship Id="rId6" Type="http://schemas.openxmlformats.org/officeDocument/2006/relationships/image" Target="../media/image103.png"/><Relationship Id="rId7" Type="http://schemas.openxmlformats.org/officeDocument/2006/relationships/image" Target="../media/image104.png"/><Relationship Id="rId8" Type="http://schemas.openxmlformats.org/officeDocument/2006/relationships/image" Target="../media/image134.png"/><Relationship Id="rId9" Type="http://schemas.openxmlformats.org/officeDocument/2006/relationships/image" Target="../media/image1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82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36.png"/><Relationship Id="rId9" Type="http://schemas.openxmlformats.org/officeDocument/2006/relationships/image" Target="../media/image1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84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38.png"/><Relationship Id="rId9" Type="http://schemas.openxmlformats.org/officeDocument/2006/relationships/image" Target="../media/image1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40.png"/><Relationship Id="rId7" Type="http://schemas.openxmlformats.org/officeDocument/2006/relationships/image" Target="../media/image1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86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Relationship Id="rId8" Type="http://schemas.openxmlformats.org/officeDocument/2006/relationships/image" Target="../media/image142.png"/><Relationship Id="rId9" Type="http://schemas.openxmlformats.org/officeDocument/2006/relationships/image" Target="../media/image14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87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44.png"/><Relationship Id="rId9" Type="http://schemas.openxmlformats.org/officeDocument/2006/relationships/image" Target="../media/image14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85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image" Target="../media/image146.png"/><Relationship Id="rId9" Type="http://schemas.openxmlformats.org/officeDocument/2006/relationships/image" Target="../media/image14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89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48.png"/><Relationship Id="rId9" Type="http://schemas.openxmlformats.org/officeDocument/2006/relationships/image" Target="../media/image14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90.png"/><Relationship Id="rId6" Type="http://schemas.openxmlformats.org/officeDocument/2006/relationships/image" Target="../media/image119.png"/><Relationship Id="rId7" Type="http://schemas.openxmlformats.org/officeDocument/2006/relationships/image" Target="../media/image120.png"/><Relationship Id="rId8" Type="http://schemas.openxmlformats.org/officeDocument/2006/relationships/image" Target="../media/image150.png"/><Relationship Id="rId9" Type="http://schemas.openxmlformats.org/officeDocument/2006/relationships/image" Target="../media/image1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91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52.png"/><Relationship Id="rId9" Type="http://schemas.openxmlformats.org/officeDocument/2006/relationships/image" Target="../media/image15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77.png"/><Relationship Id="rId6" Type="http://schemas.openxmlformats.org/officeDocument/2006/relationships/image" Target="../media/image79.png"/><Relationship Id="rId7" Type="http://schemas.openxmlformats.org/officeDocument/2006/relationships/image" Target="../media/image88.png"/><Relationship Id="rId8" Type="http://schemas.openxmlformats.org/officeDocument/2006/relationships/image" Target="../media/image123.png"/><Relationship Id="rId9" Type="http://schemas.openxmlformats.org/officeDocument/2006/relationships/image" Target="../media/image124.png"/><Relationship Id="rId10" Type="http://schemas.openxmlformats.org/officeDocument/2006/relationships/image" Target="../media/image154.png"/><Relationship Id="rId11" Type="http://schemas.openxmlformats.org/officeDocument/2006/relationships/image" Target="../media/image15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92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56.png"/><Relationship Id="rId9" Type="http://schemas.openxmlformats.org/officeDocument/2006/relationships/image" Target="../media/image15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93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58.png"/><Relationship Id="rId9" Type="http://schemas.openxmlformats.org/officeDocument/2006/relationships/image" Target="../media/image15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56.png"/><Relationship Id="rId13" Type="http://schemas.openxmlformats.org/officeDocument/2006/relationships/image" Target="../media/image57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60.png"/><Relationship Id="rId17" Type="http://schemas.openxmlformats.org/officeDocument/2006/relationships/image" Target="../media/image61.png"/><Relationship Id="rId18" Type="http://schemas.openxmlformats.org/officeDocument/2006/relationships/image" Target="../media/image62.png"/><Relationship Id="rId19" Type="http://schemas.openxmlformats.org/officeDocument/2006/relationships/image" Target="../media/image63.png"/><Relationship Id="rId20" Type="http://schemas.openxmlformats.org/officeDocument/2006/relationships/image" Target="../media/image64.png"/><Relationship Id="rId21" Type="http://schemas.openxmlformats.org/officeDocument/2006/relationships/image" Target="../media/image65.png"/><Relationship Id="rId22" Type="http://schemas.openxmlformats.org/officeDocument/2006/relationships/image" Target="../media/image66.png"/><Relationship Id="rId23" Type="http://schemas.openxmlformats.org/officeDocument/2006/relationships/image" Target="../media/image67.png"/><Relationship Id="rId24" Type="http://schemas.openxmlformats.org/officeDocument/2006/relationships/image" Target="../media/image68.png"/><Relationship Id="rId25" Type="http://schemas.openxmlformats.org/officeDocument/2006/relationships/image" Target="../media/image69.png"/><Relationship Id="rId26" Type="http://schemas.openxmlformats.org/officeDocument/2006/relationships/image" Target="../media/image70.png"/><Relationship Id="rId27" Type="http://schemas.openxmlformats.org/officeDocument/2006/relationships/image" Target="../media/image71.png"/><Relationship Id="rId28" Type="http://schemas.openxmlformats.org/officeDocument/2006/relationships/image" Target="../media/image72.png"/><Relationship Id="rId29" Type="http://schemas.openxmlformats.org/officeDocument/2006/relationships/image" Target="../media/image130.png"/><Relationship Id="rId30" Type="http://schemas.openxmlformats.org/officeDocument/2006/relationships/image" Target="../media/image1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year">
            <a:extLst>
              <a:ext uri="{FF2B5EF4-FFF2-40B4-BE49-F238E27FC236}">
                <a16:creationId xmlns:a16="http://schemas.microsoft.com/office/drawing/2014/main" id="{F8E5C360-5525-6222-2DE4-BF93C58E65A5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TỔNG BẢN VẼ &amp; PCS HOÀN THÀNH THEO THÁNG – NĂM 2026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92898F1-73DA-97EA-3460-4BF6AED61236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anchor_year_bv_pc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556053"/>
            <a:ext cx="12192000" cy="630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7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2B24D-0524-07ED-87A1-0A4AFED6B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global">
            <a:extLst>
              <a:ext uri="{FF2B5EF4-FFF2-40B4-BE49-F238E27FC236}">
                <a16:creationId xmlns:a16="http://schemas.microsoft.com/office/drawing/2014/main" id="{89B4D1A9-ADB8-A65A-52C7-8B1100C6E6F8}"/>
              </a:ext>
            </a:extLst>
          </p:cNvPr>
          <p:cNvSpPr txBox="1"/>
          <p:nvPr/>
        </p:nvSpPr>
        <p:spPr>
          <a:xfrm>
            <a:off x="1802908" y="0"/>
            <a:ext cx="80238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MỤC TIÊU – THỰC TÍCH BẢN VẼ &amp; SỐ PCS HOÀN THÀNH THEO NGÀY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4F21D9C-2DF6-2E5F-EEB0-90829EF83601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4" name="anchor_global_lef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4640"/>
            <a:ext cx="12192000" cy="3181282"/>
          </a:xfrm>
          <a:prstGeom prst="rect">
            <a:avLst/>
          </a:prstGeom>
        </p:spPr>
      </p:pic>
      <p:pic>
        <p:nvPicPr>
          <p:cNvPr id="1235" name="anchor_global_righ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04151"/>
            <a:ext cx="12192000" cy="318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00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75FBA-E0CE-4D46-7017-F99C9873E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file3_table">
            <a:extLst>
              <a:ext uri="{FF2B5EF4-FFF2-40B4-BE49-F238E27FC236}">
                <a16:creationId xmlns:a16="http://schemas.microsoft.com/office/drawing/2014/main" id="{F947EE90-6EB1-9EC2-2406-5AD34CC29DB9}"/>
              </a:ext>
            </a:extLst>
          </p:cNvPr>
          <p:cNvSpPr txBox="1"/>
          <p:nvPr/>
        </p:nvSpPr>
        <p:spPr>
          <a:xfrm>
            <a:off x="2084070" y="0"/>
            <a:ext cx="8023860" cy="403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8B"/>
                </a:solidFill>
                <a:latin typeface="Calibri"/>
              </a:defRPr>
            </a:pPr>
            <a:r>
              <a:t>BẢN VẼ HOÀN THÀNH, TRỄ HẸN VÀ PHỤ TẢI CÔNG ĐOẠN – 17/06/2026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19C67E9-1795-EE24-6B74-93CBD8603CA1}"/>
              </a:ext>
            </a:extLst>
          </p:cNvPr>
          <p:cNvCxnSpPr/>
          <p:nvPr/>
        </p:nvCxnSpPr>
        <p:spPr>
          <a:xfrm>
            <a:off x="2084070" y="396681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anchor_file3_table"/>
          <p:cNvGraphicFramePr>
            <a:graphicFrameLocks noGrp="1"/>
          </p:cNvGraphicFramePr>
          <p:nvPr/>
        </p:nvGraphicFramePr>
        <p:xfrm>
          <a:off x="0" y="585215"/>
          <a:ext cx="12192000" cy="6272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418183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Công đoạn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Phụ tải CĐ hiện tại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Phụ tải CĐ tổng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Số bản vẽ trễ hẹn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Số bản vẽ hoàn thành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Hiệu suất (Ngày)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AF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5.53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59.09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39.11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BJ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7.77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39.72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61.53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DA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0.02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12.71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51.15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45.83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25.49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EW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32.47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76.67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21.62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GC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48.54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84.31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67.95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GJ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2.80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32.91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32.28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GP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46.09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63.07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GR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19.05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49.89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66.93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43.95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75.97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LA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24.24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27.71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63.43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LN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57.94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84.66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25.10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18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MA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11.18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26.38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53.78</a:t>
                      </a:r>
                    </a:p>
                  </a:txBody>
                  <a:tcPr anchor="ctr">
                    <a:solidFill>
                      <a:srgbClr val="E2EAF8"/>
                    </a:solidFill>
                  </a:tcPr>
                </a:tc>
              </a:tr>
              <a:tr h="418193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MC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25.24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60.79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45.53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22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BA6CF-9CF4-20FF-5C80-B80239092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imer">
            <a:extLst>
              <a:ext uri="{FF2B5EF4-FFF2-40B4-BE49-F238E27FC236}">
                <a16:creationId xmlns:a16="http://schemas.microsoft.com/office/drawing/2014/main" id="{2B848CC1-B4A4-A888-E876-FEDB5CFE75EC}"/>
              </a:ext>
            </a:extLst>
          </p:cNvPr>
          <p:cNvSpPr txBox="1"/>
          <p:nvPr/>
        </p:nvSpPr>
        <p:spPr>
          <a:xfrm>
            <a:off x="2084070" y="0"/>
            <a:ext cx="80238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TỈ LỆ HOẠT ĐỘNG MÁY TẠI CÁC CÔNG ĐOẠN TRONG THÁNG 06/2026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F506A12-9ECB-0AB4-BA21-6A7DEF9C15AB}"/>
              </a:ext>
            </a:extLst>
          </p:cNvPr>
          <p:cNvCxnSpPr/>
          <p:nvPr/>
        </p:nvCxnSpPr>
        <p:spPr>
          <a:xfrm>
            <a:off x="2084070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anchor_timer_utilization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553792"/>
            <a:ext cx="12192000" cy="630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4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DF93C-F632-7C2E-62EE-6057D1B1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6AF26D8A-4DE7-3510-785F-E06FE74F3059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AA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8D771B-3CE2-9624-65D0-7319A4118B91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4" name="anchor_block_lef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64068"/>
            <a:ext cx="12201144" cy="3193531"/>
          </a:xfrm>
          <a:prstGeom prst="rect">
            <a:avLst/>
          </a:prstGeom>
        </p:spPr>
      </p:pic>
      <p:pic>
        <p:nvPicPr>
          <p:cNvPr id="1245" name="anchor_block_righ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664468"/>
            <a:ext cx="12201144" cy="319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968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EC890-1E56-68E2-1956-FA68FC65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524A642E-539A-E5F0-B406-DC78EB04C556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MA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11E59D-89E2-D013-633C-033B0357E25F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4" name="anchor_block_lef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545" name="anchor_block_righ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546" name="anchor_tim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3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44C59-489F-8F2B-3155-E4CA002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46C9E094-EA2B-5D79-123A-24754919B07C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LA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09E9232-6918-E409-57C7-80D97F6E28E2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4" name="anchor_block_lef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545" name="anchor_block_righ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546" name="anchor_tim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41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5A9B6-7315-8E7C-0CBA-E1FD27BD2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F7838D5C-DFBB-FE21-B175-9F16399FB695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BJ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BAEE67F-6F62-ACCF-7794-2F92EBB82195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4" name="anchor_block_lef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545" name="anchor_block_righ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546" name="anchor_tim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32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C848E-724B-FEAC-1D8E-51E1C18F9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4D2D2C17-ED32-A242-89EE-699ABAE541BD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DA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A609C2-3EAD-A7D4-5DBE-3A600085FD38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4" name="anchor_block_lef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64068"/>
            <a:ext cx="12201144" cy="3193531"/>
          </a:xfrm>
          <a:prstGeom prst="rect">
            <a:avLst/>
          </a:prstGeom>
        </p:spPr>
      </p:pic>
      <p:pic>
        <p:nvPicPr>
          <p:cNvPr id="1245" name="anchor_block_righ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664468"/>
            <a:ext cx="12201144" cy="319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9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236B1-8133-4DEB-3443-1D206EA54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79FFED56-9102-3DD9-C3DC-F2214B6CEB52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GS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9AB2382-0B51-B3CC-B3A2-30A48B2D6C03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4" name="anchor_block_lef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545" name="anchor_block_righ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546" name="anchor_tim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67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2D788-54F2-7693-4962-53D8C9288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7AF56569-2F47-9217-12D5-A5C614F1EF05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GR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15BDBB9-252B-C67D-EC34-A4F01305D3CE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4" name="anchor_block_lef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545" name="anchor_block_righ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546" name="anchor_tim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2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65381-EBA6-FF05-1DBC-CFC220E8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6267E364-4546-D8CE-4039-2F34A964F0AC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GC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4556DDD-019B-C040-B28A-8A2C966D5090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4" name="anchor_block_lef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545" name="anchor_block_righ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546" name="anchor_tim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665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E4177-8309-37EB-0547-38F50A0D0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54FED68F-3ACE-9995-67AF-253B95D7EFF6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GJ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C5B43B0-2A71-57F4-441B-1E057CA2CDB2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4" name="anchor_block_lef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545" name="anchor_block_righ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546" name="anchor_tim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05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D996E-F5CE-51C9-6AE4-836510F7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466131B4-20FF-26FE-93D7-780DBC36D7B5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MC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A6B03D9-B831-6470-A47D-61EA51868A78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4" name="anchor_block_lef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545" name="anchor_block_righ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546" name="anchor_tim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5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9E748-A65B-38DE-B77B-BF55A22E2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FD91A7B4-0E95-6866-28D3-92F5177F50A7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LN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E54DA51-4575-2699-5979-AC9B7E927B2E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4" name="anchor_block_lef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545" name="anchor_block_righ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546" name="anchor_tim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2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4B993-AF80-C832-DE07-172743C81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3C895401-DDC1-5E21-6C82-71F5FFF70C65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EN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28A109E-22CE-8D25-62B5-56AB05D24BF5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4" name="anchor_block_left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545" name="anchor_block_right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546" name="anchor_time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0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A2039-7F3F-49CF-D444-E3B9DD837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108201B0-CC04-C15A-180C-4978C634A62A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EW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1F4633F-6CA6-9A8D-33FE-7B230BC7B8C2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4" name="anchor_block_lef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545" name="anchor_block_righ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546" name="anchor_tim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4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2C75A-AF88-7DF7-4BC9-3F11D3C9C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block">
            <a:extLst>
              <a:ext uri="{FF2B5EF4-FFF2-40B4-BE49-F238E27FC236}">
                <a16:creationId xmlns:a16="http://schemas.microsoft.com/office/drawing/2014/main" id="{7C2443A0-A56D-182B-BC3C-A012874F11D1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TÍNH SẢN XUẤT – TỈ LỆ HOẠT ĐỘNG MÁY CÔNG ĐOẠN GP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B930505-7A2F-6DDA-12E3-AF1C1735AB18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4" name="anchor_block_lef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61250"/>
            <a:ext cx="12188952" cy="2231956"/>
          </a:xfrm>
          <a:prstGeom prst="rect">
            <a:avLst/>
          </a:prstGeom>
        </p:spPr>
      </p:pic>
      <p:pic>
        <p:nvPicPr>
          <p:cNvPr id="1545" name="anchor_block_righ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690192"/>
            <a:ext cx="12188952" cy="2231956"/>
          </a:xfrm>
          <a:prstGeom prst="rect">
            <a:avLst/>
          </a:prstGeom>
        </p:spPr>
      </p:pic>
      <p:pic>
        <p:nvPicPr>
          <p:cNvPr id="1546" name="anchor_tim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19133"/>
            <a:ext cx="12188952" cy="19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01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9D6C8-D0CC-054F-A44E-BAA3C97B9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costdown">
            <a:extLst>
              <a:ext uri="{FF2B5EF4-FFF2-40B4-BE49-F238E27FC236}">
                <a16:creationId xmlns:a16="http://schemas.microsoft.com/office/drawing/2014/main" id="{2F5EAA73-B855-EAD1-8559-84A028AAA2D6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COSTDOWN NỘI TÁC – TỔNG HỢP NĂM 2026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FE929AD-0132-7175-0F0C-05A198911306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8" name="anchor_costdown_noita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" y="486858"/>
            <a:ext cx="12192000" cy="3200400"/>
          </a:xfrm>
          <a:prstGeom prst="rect">
            <a:avLst/>
          </a:prstGeom>
        </p:spPr>
      </p:pic>
      <p:pic>
        <p:nvPicPr>
          <p:cNvPr id="1129" name="anchor_costdown_to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7258"/>
            <a:ext cx="121920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2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F6AE1-1951-6A91-410C-83838FA2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timer_khongnguoi">
            <a:extLst>
              <a:ext uri="{FF2B5EF4-FFF2-40B4-BE49-F238E27FC236}">
                <a16:creationId xmlns:a16="http://schemas.microsoft.com/office/drawing/2014/main" id="{61F75F4C-A597-35EE-7427-191ABD4332DA}"/>
              </a:ext>
            </a:extLst>
          </p:cNvPr>
          <p:cNvSpPr txBox="1"/>
          <p:nvPr/>
        </p:nvSpPr>
        <p:spPr>
          <a:xfrm>
            <a:off x="2678811" y="27432"/>
            <a:ext cx="682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0080"/>
                </a:solidFill>
                <a:latin typeface="Calibri"/>
              </a:defRPr>
            </a:pPr>
            <a:r>
              <a:t>BIỂU ĐỒ TỈ LỆ HOẠT ĐỘNG MÁY KHÔNG NGƯỜI NĂM 2026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360BE83-0A20-80C7-2E7D-34685D1F5450}"/>
              </a:ext>
            </a:extLst>
          </p:cNvPr>
          <p:cNvCxnSpPr/>
          <p:nvPr/>
        </p:nvCxnSpPr>
        <p:spPr>
          <a:xfrm>
            <a:off x="1802908" y="403057"/>
            <a:ext cx="8023860" cy="0"/>
          </a:xfrm>
          <a:prstGeom prst="line">
            <a:avLst/>
          </a:prstGeom>
          <a:ln w="34925">
            <a:solidFill>
              <a:srgbClr val="374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anchor_timer_khong_nguoi" descr="timer_khong_nguoi_tren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" y="556053"/>
            <a:ext cx="12192000" cy="630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66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359</TotalTime>
  <Words>350</Words>
  <Application>Microsoft Office PowerPoint</Application>
  <PresentationFormat>Widescreen</PresentationFormat>
  <Paragraphs>110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12329 Hoang</dc:creator>
  <cp:lastModifiedBy>VDM/HOANG LE PHUOC</cp:lastModifiedBy>
  <cp:revision>112</cp:revision>
  <dcterms:created xsi:type="dcterms:W3CDTF">2026-03-31T02:02:07Z</dcterms:created>
  <dcterms:modified xsi:type="dcterms:W3CDTF">2026-06-04T06:26:01Z</dcterms:modified>
</cp:coreProperties>
</file>